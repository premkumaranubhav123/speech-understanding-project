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67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467F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467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C9-48E6-851A-A62979B98649}"/>
              </c:ext>
            </c:extLst>
          </c:dPt>
          <c:dPt>
            <c:idx val="1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C9-48E6-851A-A62979B9864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ResNet-50</c:v>
                </c:pt>
                <c:pt idx="1">
                  <c:v>YAMNet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91.29</c:v>
                </c:pt>
                <c:pt idx="1">
                  <c:v>87.44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C9-48E6-851A-A62979B986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67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467F"/>
                </a:solidFill>
                <a:latin typeface="Arial"/>
              </a:rPr>
              <a:t>CPU Inference Time (ms/clip — 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(ms/clip)</c:v>
                </c:pt>
              </c:strCache>
            </c:strRef>
          </c:tx>
          <c:spPr>
            <a:solidFill>
              <a:srgbClr val="00467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08-4514-BB50-91D79D79B1E7}"/>
              </c:ext>
            </c:extLst>
          </c:dPt>
          <c:dPt>
            <c:idx val="1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08-4514-BB50-91D79D79B1E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ResNet-50</c:v>
                </c:pt>
                <c:pt idx="1">
                  <c:v>YAMNet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142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08-4514-BB50-91D79D79B1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145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28600"/>
            <a:ext cx="1280160" cy="1417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4864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Environmental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Classification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85800" y="2286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Transfer Learning with Responsible AI Analysis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2834640"/>
            <a:ext cx="6583680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Kumar (B22AI031)  |  Akash Chaudhary (B22EE007)  |  V.K Santosh (B22AI049)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Speech Understanding (CS 605)  •  IIT Jodhpur  •  2025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3977640"/>
            <a:ext cx="1920240" cy="27432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80360" y="3977640"/>
            <a:ext cx="1920240" cy="27432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803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74920" y="3977640"/>
            <a:ext cx="1920240" cy="27432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4361688"/>
            <a:ext cx="1920240" cy="27432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361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880360" y="4361688"/>
            <a:ext cx="1920240" cy="27432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80360" y="4361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74920" y="4361688"/>
            <a:ext cx="1920240" cy="27432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4920" y="4361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UrbanSound8K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will cover in this 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700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ESC matters and what's broken today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03120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031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139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4140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UrbanSound8K: 8,732 clips, 10 classes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16352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81635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852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3127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pipeline design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9584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52958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ResNet-50 &amp; YAMNet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 learning strategies compared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42816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42816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2428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553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91.29% accuracy, per-class breakdown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1389888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389888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38988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Analysis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17007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Demographic Parity Index &amp; bias detection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103120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103120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1031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21808" y="2139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21808" y="24140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Noise resilience across SNR levels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2816352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2816352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81635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21808" y="2852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(Grad-CAM)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21808" y="3127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the model decides what it decides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529584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529584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52958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21808" y="3566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Ethics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21808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CPU inference, edge devices, privacy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4242816"/>
            <a:ext cx="41605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4242816"/>
            <a:ext cx="411480" cy="5669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52" name="Text 50"/>
          <p:cNvSpPr/>
          <p:nvPr/>
        </p:nvSpPr>
        <p:spPr>
          <a:xfrm>
            <a:off x="4846320" y="42428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21808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21808" y="4553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 and future work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Environmental Sound Classification — why it matters and what's still broken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69080" cy="3383280"/>
          </a:xfrm>
          <a:prstGeom prst="rect">
            <a:avLst/>
          </a:prstGeom>
          <a:solidFill>
            <a:srgbClr val="EAF2F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ESC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Noise pollution monitoring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816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Hearing sirens &amp; horns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Research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502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Animal sound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187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Gunshot &amp; alarm alerts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371600"/>
            <a:ext cx="4206240" cy="3383280"/>
          </a:xfrm>
          <a:prstGeom prst="rect">
            <a:avLst/>
          </a:prstGeom>
          <a:solidFill>
            <a:srgbClr val="FFF7E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Unsolved Problems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90195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1920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Sensitivity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21762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 fail in real noisy environments,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 when lab accuracy is 95%+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1635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834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Bias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0906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Some sound classes get classified much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worse — even with balanced datasets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3075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40050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explanations for decisions — critical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safety &amp; trust in deployment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UrbanSound8K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8,732 labeled audio clips across 10 urban sound categories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600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35608"/>
            <a:ext cx="16002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8,732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94967"/>
            <a:ext cx="16002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Clips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29968" y="1325880"/>
            <a:ext cx="1600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29968" y="1435608"/>
            <a:ext cx="16002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029968" y="1794967"/>
            <a:ext cx="16002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Sound Classes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85616" y="1325880"/>
            <a:ext cx="1600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85616" y="1435608"/>
            <a:ext cx="16002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≤4s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785616" y="1794967"/>
            <a:ext cx="16002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 Duration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41264" y="1325880"/>
            <a:ext cx="1600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41264" y="1435608"/>
            <a:ext cx="16002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22,050Hz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541264" y="1794967"/>
            <a:ext cx="16002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Sample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6912" y="1325880"/>
            <a:ext cx="1600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96912" y="1435608"/>
            <a:ext cx="16002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296912" y="1794967"/>
            <a:ext cx="16002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CV Folds</a:t>
            </a:r>
            <a:endParaRPr lang="en-US" sz="1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331720"/>
            <a:ext cx="8595360" cy="2514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Figure 1: All 10 classes have exactly 150 clips — a perfectly balanced dataset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pipeline: from raw audio to Responsible AI analysis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98448"/>
            <a:ext cx="8595360" cy="2084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4290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Figure 2: 6-stage pipeline — Input → Preprocess → Features → CNN Model → Classification → RAI Analysis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3749040"/>
            <a:ext cx="2788920" cy="114300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3749040"/>
            <a:ext cx="2788920" cy="29260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749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Spectrogram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407822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128 mel filterbanks • 25ms windows • 224×224 image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Mimics human hearing perception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18688" y="3749040"/>
            <a:ext cx="2788920" cy="114300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18688" y="3749040"/>
            <a:ext cx="2788920" cy="29260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13" name="Text 10"/>
          <p:cNvSpPr/>
          <p:nvPr/>
        </p:nvSpPr>
        <p:spPr>
          <a:xfrm>
            <a:off x="3218688" y="3749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Features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10128" y="407822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base + delta + delta-delta = 39 coefficients/frame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Captures spectral shape / envelope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63056" y="3749040"/>
            <a:ext cx="2788920" cy="114300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63056" y="3749040"/>
            <a:ext cx="2788920" cy="29260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17" name="Text 14"/>
          <p:cNvSpPr/>
          <p:nvPr/>
        </p:nvSpPr>
        <p:spPr>
          <a:xfrm>
            <a:off x="6163056" y="3749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54496" y="407822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Gaussian noise • Time stretch • Pitch shift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SpecAugment (time + freq masking)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architectures compared — power vs. efficiency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60520" cy="3566160"/>
          </a:xfrm>
          <a:prstGeom prst="rect">
            <a:avLst/>
          </a:prstGeom>
          <a:solidFill>
            <a:srgbClr val="EAF2F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4160520" cy="38404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258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19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Pretrained on ImageNet (1.2M images, 1000 classes)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95144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23.5M parameters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6609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Spectrograms treated as 224×224 images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36392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0815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Layers 1–3 frozen → Layer4 fine-tuned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57016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5021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Added: Dropout(0.5) → FC(256) → FC(10)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39227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Skip connections prevent vanishing gradients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398264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Achieves 91.29% 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325880"/>
            <a:ext cx="4160520" cy="3566160"/>
          </a:xfrm>
          <a:prstGeom prst="rect">
            <a:avLst/>
          </a:prstGeom>
          <a:solidFill>
            <a:srgbClr val="FFF7E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325880"/>
            <a:ext cx="4160520" cy="38404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3258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(Google)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7760" y="1874520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18196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Pretrained on AudioSet (2M+ clips, 521 classes)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295144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Only 3.5M parameters (85% fewer than ResNet-50)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715768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0" name="Text 28"/>
          <p:cNvSpPr/>
          <p:nvPr/>
        </p:nvSpPr>
        <p:spPr>
          <a:xfrm>
            <a:off x="5138928" y="26609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MobileNetV1: depthwise separable convolutions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136392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30815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Input: 96×96×3 spectrogram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3557016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35021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Fine-tuned classifier head for 10 classes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977640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6" name="Text 34"/>
          <p:cNvSpPr/>
          <p:nvPr/>
        </p:nvSpPr>
        <p:spPr>
          <a:xfrm>
            <a:off x="5138928" y="392277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38ms/clip inference — real-time capable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4398264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8" name="Text 36"/>
          <p:cNvSpPr/>
          <p:nvPr/>
        </p:nvSpPr>
        <p:spPr>
          <a:xfrm>
            <a:off x="5138928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Achieves 87.44% accuracy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ResNet-50 achieves 91.29% accuracy — 5/10 classes reach perfect F1 = 1.0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08176"/>
            <a:ext cx="1965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91.29%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816913"/>
            <a:ext cx="19659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ResNet-50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298448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408176"/>
            <a:ext cx="1965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1816913"/>
            <a:ext cx="19659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YAMNet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298448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408176"/>
            <a:ext cx="1965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26864" y="1816913"/>
            <a:ext cx="19659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Macro F1-Score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298448"/>
            <a:ext cx="1965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408176"/>
            <a:ext cx="1965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03136" y="1816913"/>
            <a:ext cx="19659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 Idling F1 ⚠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377440"/>
            <a:ext cx="4114800" cy="2542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74320" y="491947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Figure 3: Confusion Matrix — 8-fold CV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63440" y="233172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Scores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670048"/>
          <a:ext cx="4251960" cy="2682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gun_shot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jackhammer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car_horn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dog_bark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street_music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air_cond.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engine_idling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vs. YAMNet: Head-to-Head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Choosing the right model for your use case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25880"/>
          <a:ext cx="4206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325880"/>
          <a:ext cx="42062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94760"/>
          <a:ext cx="8595360" cy="17602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YAMNet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3.5M (85% less)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(CPU)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38ms (3.7× faster)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3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High-accuracy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/ real-time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Bias detection across all 10 sound classes using Demographic Parity Index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98448"/>
            <a:ext cx="859536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90448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Figure 4: Per-class F1 scores — red bars fall below the bias threshold (0.729)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4178808"/>
            <a:ext cx="27889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= 0.214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498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Moderate bias detected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(0=fair, &gt;0.4=severe)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18688" y="4178808"/>
            <a:ext cx="27889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10128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10128" y="4498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Acoustic similarity 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 &amp; engine both low-freq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63056" y="4178808"/>
            <a:ext cx="278892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54496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54496" y="4498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 reweighting (2.5×)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targeted augmentation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Under Noise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accuracy changes across 3 noise types and 5 SNR levels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98448"/>
            <a:ext cx="8595360" cy="2423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767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Figure 5: Accuracy vs. SNR — Gaussian, Traffic, and Crowd noise (ResNet-50). Lower SNR = more noise.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4041648"/>
            <a:ext cx="228600" cy="347472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" y="40416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Least harmful — spectrograms smooth it out. Accuracy 75.2% at 0dB.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4041648"/>
            <a:ext cx="2286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5010912" y="40416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Noise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10912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 harmful — non-stationary babble masks events. 69.3% at 0dB.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4498848"/>
            <a:ext cx="228600" cy="34747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4" name="Text 11"/>
          <p:cNvSpPr/>
          <p:nvPr/>
        </p:nvSpPr>
        <p:spPr>
          <a:xfrm>
            <a:off x="576072" y="4498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 Sounds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" y="4681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Gunshot, siren, car horn are most resilient — sharp distinct patterns.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09160" y="4498848"/>
            <a:ext cx="228600" cy="34747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7" name="Text 14"/>
          <p:cNvSpPr/>
          <p:nvPr/>
        </p:nvSpPr>
        <p:spPr>
          <a:xfrm>
            <a:off x="5010912" y="4498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Sounds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10912" y="46817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Air conditioner &amp; engine idling degrade fastest under all noise types.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Grad-CAM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 heatmaps show exactly where the model looks to make decisions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98448"/>
            <a:ext cx="859536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63931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Figure 6: Engine Idling — Mel Spectrogram | Grad-CAM Heatmap | Overlay. Red/yellow = most important region.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3913632"/>
            <a:ext cx="4572000" cy="1143000"/>
          </a:xfrm>
          <a:prstGeom prst="rect">
            <a:avLst/>
          </a:prstGeom>
          <a:solidFill>
            <a:srgbClr val="EAF2F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39593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Grad-CAM Works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4251960"/>
            <a:ext cx="4297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 </a:t>
            </a: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Forward pass → get class score  </a:t>
            </a:r>
            <a:r>
              <a:rPr lang="en-US" sz="1000" b="1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 </a:t>
            </a: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Compute gradients through last conv layer  </a:t>
            </a:r>
            <a:r>
              <a:rPr lang="en-US" sz="1000" b="1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 </a:t>
            </a: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 feature maps by gradient importance  </a:t>
            </a:r>
            <a:r>
              <a:rPr lang="en-US" sz="1000" b="1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4. </a:t>
            </a: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Apply ReLU → generate heatmap  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3913632"/>
            <a:ext cx="3840480" cy="1143000"/>
          </a:xfrm>
          <a:prstGeom prst="rect">
            <a:avLst/>
          </a:prstGeom>
          <a:solidFill>
            <a:srgbClr val="FFF7E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166360" y="3959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Heatmaps Reveal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66360" y="4279392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3" name="Text 10"/>
          <p:cNvSpPr/>
          <p:nvPr/>
        </p:nvSpPr>
        <p:spPr>
          <a:xfrm>
            <a:off x="5376672" y="4251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Dog bark → focuses on 2-5kHz bursts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66360" y="4480560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5" name="Text 12"/>
          <p:cNvSpPr/>
          <p:nvPr/>
        </p:nvSpPr>
        <p:spPr>
          <a:xfrm>
            <a:off x="5376672" y="4453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Siren → tracks rising/falling diagonal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66360" y="4681728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" name="Text 14"/>
          <p:cNvSpPr/>
          <p:nvPr/>
        </p:nvSpPr>
        <p:spPr>
          <a:xfrm>
            <a:off x="5376672" y="46542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Gunshot → single time-freq point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66360" y="4882896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9" name="Text 16"/>
          <p:cNvSpPr/>
          <p:nvPr/>
        </p:nvSpPr>
        <p:spPr>
          <a:xfrm>
            <a:off x="5376672" y="48554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AC/Engine confusion → same low-freq region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 Full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Fairness • Robustness • Explainability — all covered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73152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77393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DPI = 0.214 (Moderate Bias)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60520" cy="73152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7160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76088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Bias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76088" y="177393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engine_idling F1=0.457 flagged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160520" cy="73152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028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2331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64261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noise types × 5 SNR levels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4160520" cy="73152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4028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76088" y="2331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(Grad-CAM)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76088" y="264261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Heatmaps for every class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4160520" cy="73152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" y="3200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5112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YAMNet: 38ms/clip, 118MB RAM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4160520" cy="73152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1089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76088" y="3200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35112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Privacy, false positives, bias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4160520" cy="73152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97764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1248" y="4069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" y="43799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code + 8-fold CV protocol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977640"/>
            <a:ext cx="4160520" cy="731520"/>
          </a:xfrm>
          <a:prstGeom prst="rect">
            <a:avLst/>
          </a:prstGeom>
          <a:solidFill>
            <a:srgbClr val="EAF2FB"/>
          </a:solidFill>
          <a:ln w="6350">
            <a:solidFill>
              <a:srgbClr val="D0E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97764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76088" y="4069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Documentation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76088" y="43799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cards, README, configs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Ethical Considerations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CPU-only inference, edge devices, and responsible use in public spaces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3533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 Performance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91640"/>
          <a:ext cx="4114800" cy="822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ms/clip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Clips/sec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5786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7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YAMNet runs on Raspberry Pi 4 in real-time (26+ clips/sec)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14800" cy="2011680"/>
          </a:xfrm>
          <a:prstGeom prst="rect">
            <a:avLst/>
          </a:prstGeom>
          <a:solidFill>
            <a:srgbClr val="EAF2F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29718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Specs (Raspberry Pi 4)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337560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INT8 quantized YAMNet: 89ms/clip (11.2 clips/sec)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721608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3675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 consumption: 2.5W (vs 15W laptop CPU)</a:t>
            </a:r>
            <a:endParaRPr lang="en-US" sz="1000" dirty="0"/>
          </a:p>
        </p:txBody>
      </p:sp>
      <p:sp>
        <p:nvSpPr>
          <p:cNvPr id="6" name="Shape 11"/>
          <p:cNvSpPr/>
          <p:nvPr/>
        </p:nvSpPr>
        <p:spPr>
          <a:xfrm>
            <a:off x="457200" y="4105656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40599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Suitable for battery-powered monitoring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489704"/>
            <a:ext cx="118872" cy="118872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4443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Latency under 100ms with ONNX Runtime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08576" y="1316033"/>
            <a:ext cx="4206240" cy="3611880"/>
          </a:xfrm>
          <a:prstGeom prst="rect">
            <a:avLst/>
          </a:prstGeom>
          <a:solidFill>
            <a:srgbClr val="FFF7E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Text 16"/>
          <p:cNvSpPr/>
          <p:nvPr/>
        </p:nvSpPr>
        <p:spPr>
          <a:xfrm>
            <a:off x="48006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Ethical Considerations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78808" y="160020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 Privacy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29200" y="25469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Microphone monitoring in public spaces needs clear policies, consent, and transparency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36498" y="2199132"/>
            <a:ext cx="379827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 False Positives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29200" y="1893863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Misclassifying ambient sound as gunshot could trigger false emergency responses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913633" y="28395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 Bias Amplification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20640" y="3173671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Biased deployment (targeting specific areas) can worsen existing inequalities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97680" y="3462762"/>
            <a:ext cx="24055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 Accountability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78318" y="37490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is responsible when the system fails? Clear liability frameworks are needed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107766" y="4066266"/>
            <a:ext cx="27502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🧐 Transparency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20640" y="432862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Grad-CAM helps — but full model audits needed before safety-critical deployment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138160" y="4771057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040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built, what we learned, what comes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467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01168" cy="1024128"/>
          </a:xfrm>
          <a:prstGeom prst="rect">
            <a:avLst/>
          </a:prstGeom>
          <a:solidFill>
            <a:srgbClr val="00467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91.29%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ResNet-50 achieves state-of-the-art on UrbanSound8K with CPU-only inference.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6052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0073C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201168" cy="1024128"/>
          </a:xfrm>
          <a:prstGeom prst="rect">
            <a:avLst/>
          </a:prstGeom>
          <a:solidFill>
            <a:srgbClr val="0073C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 — Lightweight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YAMNet delivers 87.44% accuracy at 3.7× the speed with 85% fewer parameters.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416052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60320"/>
            <a:ext cx="201168" cy="10241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≠ Fairness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DPI=0.214 reveals systematic bias against low-freq sounds despite balanced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560320"/>
            <a:ext cx="416052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560320"/>
            <a:ext cx="201168" cy="10241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Resilience Varies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Crowd noise causes 22% drop at 0dB; impulsive sounds (gunshot, siren) are resilient.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16052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49040"/>
            <a:ext cx="201168" cy="102412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Builds Trust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Grad-CAM shows the 'why' — essential for safety-critical AI deployment.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4160520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749040"/>
            <a:ext cx="201168" cy="10241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is Required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Fairness + Robustness + Explainability must all be evaluated, not just accuracy.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Future Work: Multi-label classification • Few-shot ESC • Self-supervised pretraining • Cross-modal learning (audio + video)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A02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74320"/>
            <a:ext cx="1371600" cy="1508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6400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85800" y="16459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2148840"/>
            <a:ext cx="6583680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2860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63347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 Kumar (B22AI031) — ResNet-50, Fairness, Report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95351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Akash Chaudhary (B22EE007) — YAMNet, Robustness, Grad-CAM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27355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V.K Santosh (B22AI049) — Preprocessing, Fusion, Deployment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3977640"/>
            <a:ext cx="1920240" cy="82296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91.29%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ResNet-50 Acc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88920" y="3977640"/>
            <a:ext cx="1920240" cy="82296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8892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78892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YAMNet Acc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92040" y="3977640"/>
            <a:ext cx="1920240" cy="82296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0.214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9204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Fairness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95160" y="3977640"/>
            <a:ext cx="1920240" cy="822960"/>
          </a:xfrm>
          <a:prstGeom prst="rect">
            <a:avLst/>
          </a:prstGeom>
          <a:solidFill>
            <a:srgbClr val="163966"/>
          </a:solidFill>
          <a:ln w="6350">
            <a:solidFill>
              <a:srgbClr val="2A529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516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9516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85800" y="4828032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Speech Understanding (CS 605)  •  IIT Jodhpur  •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1423</Words>
  <Application>Microsoft Office PowerPoint</Application>
  <PresentationFormat>On-screen Show (16:9)</PresentationFormat>
  <Paragraphs>333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Environmental Sound Classification</dc:title>
  <dc:subject>PptxGenJS Presentation</dc:subject>
  <dc:creator>Prem Kumar, Akash Chaudhary, V.K Santosh</dc:creator>
  <cp:lastModifiedBy>chintan vala</cp:lastModifiedBy>
  <cp:revision>2</cp:revision>
  <dcterms:created xsi:type="dcterms:W3CDTF">2026-04-18T23:03:34Z</dcterms:created>
  <dcterms:modified xsi:type="dcterms:W3CDTF">2026-04-18T23:44:58Z</dcterms:modified>
</cp:coreProperties>
</file>